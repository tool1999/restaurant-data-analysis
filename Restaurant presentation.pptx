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70" r:id="rId3"/>
    <p:sldId id="257" r:id="rId4"/>
    <p:sldId id="258" r:id="rId5"/>
    <p:sldId id="259" r:id="rId6"/>
    <p:sldId id="260" r:id="rId7"/>
    <p:sldId id="261" r:id="rId8"/>
    <p:sldId id="262" r:id="rId9"/>
    <p:sldId id="263" r:id="rId10"/>
    <p:sldId id="264" r:id="rId11"/>
    <p:sldId id="27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D2EB99-1D17-4CAC-887E-B99B06BF6448}"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833210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7D2EB99-1D17-4CAC-887E-B99B06BF6448}"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958810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D2EB99-1D17-4CAC-887E-B99B06BF6448}"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3060970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D2EB99-1D17-4CAC-887E-B99B06BF6448}"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1720678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D2EB99-1D17-4CAC-887E-B99B06BF6448}" type="datetimeFigureOut">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2242537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7D2EB99-1D17-4CAC-887E-B99B06BF6448}" type="datetimeFigureOut">
              <a:rPr lang="en-US" smtClean="0"/>
              <a:t>8/5/2026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3804583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7D2EB99-1D17-4CAC-887E-B99B06BF6448}" type="datetimeFigureOut">
              <a:rPr lang="en-US" smtClean="0"/>
              <a:t>8/5/2026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1968094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7D2EB99-1D17-4CAC-887E-B99B06BF6448}" type="datetimeFigureOut">
              <a:rPr lang="en-US" smtClean="0"/>
              <a:t>8/5/2026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999874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D2EB99-1D17-4CAC-887E-B99B06BF6448}"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4056295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D2EB99-1D17-4CAC-887E-B99B06BF6448}"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1277462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7D2EB99-1D17-4CAC-887E-B99B06BF6448}"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2200372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7D2EB99-1D17-4CAC-887E-B99B06BF6448}"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0ADE2-EE22-487D-B307-5F4884A37D09}"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259055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D2EB99-1D17-4CAC-887E-B99B06BF6448}"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2373355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7D2EB99-1D17-4CAC-887E-B99B06BF6448}" type="datetimeFigureOut">
              <a:rPr lang="en-US" smtClean="0"/>
              <a:t>8/5/2026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335373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7D2EB99-1D17-4CAC-887E-B99B06BF6448}" type="datetimeFigureOut">
              <a:rPr lang="en-US" smtClean="0"/>
              <a:t>8/5/2026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32005765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D2EB99-1D17-4CAC-887E-B99B06BF6448}"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29628201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D2EB99-1D17-4CAC-887E-B99B06BF6448}"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F0ADE2-EE22-487D-B307-5F4884A37D09}" type="slidenum">
              <a:rPr lang="en-US" smtClean="0"/>
              <a:t>‹#›</a:t>
            </a:fld>
            <a:endParaRPr lang="en-US"/>
          </a:p>
        </p:txBody>
      </p:sp>
    </p:spTree>
    <p:extLst>
      <p:ext uri="{BB962C8B-B14F-4D97-AF65-F5344CB8AC3E}">
        <p14:creationId xmlns:p14="http://schemas.microsoft.com/office/powerpoint/2010/main" val="1950079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7D2EB99-1D17-4CAC-887E-B99B06BF6448}" type="datetimeFigureOut">
              <a:rPr lang="en-US" smtClean="0"/>
              <a:t>8/5/2026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CF0ADE2-EE22-487D-B307-5F4884A37D09}" type="slidenum">
              <a:rPr lang="en-US" smtClean="0"/>
              <a:t>‹#›</a:t>
            </a:fld>
            <a:endParaRPr lang="en-US"/>
          </a:p>
        </p:txBody>
      </p:sp>
    </p:spTree>
    <p:extLst>
      <p:ext uri="{BB962C8B-B14F-4D97-AF65-F5344CB8AC3E}">
        <p14:creationId xmlns:p14="http://schemas.microsoft.com/office/powerpoint/2010/main" val="507279973"/>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44456-BD73-0FC3-A298-F29EF2B6071D}"/>
              </a:ext>
            </a:extLst>
          </p:cNvPr>
          <p:cNvSpPr>
            <a:spLocks noGrp="1"/>
          </p:cNvSpPr>
          <p:nvPr>
            <p:ph type="ctrTitle"/>
          </p:nvPr>
        </p:nvSpPr>
        <p:spPr>
          <a:xfrm>
            <a:off x="1178351" y="2733773"/>
            <a:ext cx="10265790" cy="858973"/>
          </a:xfrm>
        </p:spPr>
        <p:txBody>
          <a:bodyPr>
            <a:normAutofit fontScale="90000"/>
          </a:bodyPr>
          <a:lstStyle/>
          <a:p>
            <a:pPr algn="ctr"/>
            <a:r>
              <a:rPr lang="en-US" sz="5400" dirty="0"/>
              <a:t>Restaurant Dataset Analysis</a:t>
            </a:r>
          </a:p>
        </p:txBody>
      </p:sp>
      <p:sp>
        <p:nvSpPr>
          <p:cNvPr id="4" name="Title 1">
            <a:extLst>
              <a:ext uri="{FF2B5EF4-FFF2-40B4-BE49-F238E27FC236}">
                <a16:creationId xmlns:a16="http://schemas.microsoft.com/office/drawing/2014/main" id="{614948D9-A2A2-4FC7-5501-D3BF0DFC173E}"/>
              </a:ext>
            </a:extLst>
          </p:cNvPr>
          <p:cNvSpPr txBox="1">
            <a:spLocks/>
          </p:cNvSpPr>
          <p:nvPr/>
        </p:nvSpPr>
        <p:spPr>
          <a:xfrm>
            <a:off x="480767" y="5439266"/>
            <a:ext cx="6815580" cy="606021"/>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3200" dirty="0"/>
              <a:t>Prepared by Mohanad Alaa</a:t>
            </a:r>
          </a:p>
        </p:txBody>
      </p:sp>
    </p:spTree>
    <p:extLst>
      <p:ext uri="{BB962C8B-B14F-4D97-AF65-F5344CB8AC3E}">
        <p14:creationId xmlns:p14="http://schemas.microsoft.com/office/powerpoint/2010/main" val="2464554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BBE1E-857E-8E4E-0145-C0A29C072A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8F5D7-5F21-4C6D-3E4C-E45149B3D2A1}"/>
              </a:ext>
            </a:extLst>
          </p:cNvPr>
          <p:cNvSpPr>
            <a:spLocks noGrp="1"/>
          </p:cNvSpPr>
          <p:nvPr>
            <p:ph type="ctrTitle"/>
          </p:nvPr>
        </p:nvSpPr>
        <p:spPr>
          <a:xfrm>
            <a:off x="509046" y="4769963"/>
            <a:ext cx="11434713" cy="858973"/>
          </a:xfrm>
        </p:spPr>
        <p:txBody>
          <a:bodyPr>
            <a:normAutofit fontScale="90000"/>
          </a:bodyPr>
          <a:lstStyle/>
          <a:p>
            <a:r>
              <a:rPr lang="en-US" sz="3200" b="1" u="sng" dirty="0">
                <a:solidFill>
                  <a:schemeClr val="bg1"/>
                </a:solidFill>
                <a:effectLst>
                  <a:outerShdw blurRad="38100" dist="38100" dir="2700000" algn="tl">
                    <a:srgbClr val="000000">
                      <a:alpha val="43137"/>
                    </a:srgbClr>
                  </a:outerShdw>
                </a:effectLst>
              </a:rPr>
              <a:t>Project Workflow</a:t>
            </a:r>
            <a:br>
              <a:rPr lang="en-US" sz="3200" b="1" u="sng" dirty="0">
                <a:effectLst>
                  <a:outerShdw blurRad="38100" dist="38100" dir="2700000" algn="tl">
                    <a:srgbClr val="000000">
                      <a:alpha val="43137"/>
                    </a:srgbClr>
                  </a:outerShdw>
                </a:effectLst>
              </a:rPr>
            </a:br>
            <a:br>
              <a:rPr lang="en-US" sz="3200" b="1" dirty="0"/>
            </a:br>
            <a:r>
              <a:rPr lang="en-US" sz="3200" b="1" dirty="0">
                <a:solidFill>
                  <a:schemeClr val="bg1">
                    <a:lumMod val="85000"/>
                    <a:lumOff val="15000"/>
                  </a:schemeClr>
                </a:solidFill>
              </a:rPr>
              <a:t>1.Understanding the Data</a:t>
            </a:r>
            <a:r>
              <a:rPr lang="en-US" sz="3200" dirty="0">
                <a:solidFill>
                  <a:schemeClr val="bg1"/>
                </a:solidFill>
              </a:rPr>
              <a:t> </a:t>
            </a:r>
            <a:br>
              <a:rPr lang="en-US" sz="3200" dirty="0"/>
            </a:br>
            <a:r>
              <a:rPr lang="en-US" sz="3200" dirty="0"/>
              <a:t>   </a:t>
            </a:r>
            <a:r>
              <a:rPr lang="en-US" sz="2800" dirty="0">
                <a:solidFill>
                  <a:schemeClr val="accent4">
                    <a:lumMod val="60000"/>
                    <a:lumOff val="40000"/>
                  </a:schemeClr>
                </a:solidFill>
              </a:rPr>
              <a:t>Understand the dataset structure and business problem.</a:t>
            </a:r>
            <a:br>
              <a:rPr lang="en-US" sz="2800" dirty="0">
                <a:solidFill>
                  <a:schemeClr val="accent4">
                    <a:lumMod val="60000"/>
                    <a:lumOff val="40000"/>
                  </a:schemeClr>
                </a:solidFill>
              </a:rPr>
            </a:br>
            <a:r>
              <a:rPr lang="en-US" sz="3200" dirty="0">
                <a:solidFill>
                  <a:schemeClr val="bg1">
                    <a:lumMod val="85000"/>
                    <a:lumOff val="15000"/>
                  </a:schemeClr>
                </a:solidFill>
              </a:rPr>
              <a:t>2.</a:t>
            </a:r>
            <a:r>
              <a:rPr lang="en-US" sz="3200" b="1" dirty="0">
                <a:solidFill>
                  <a:schemeClr val="bg1">
                    <a:lumMod val="85000"/>
                    <a:lumOff val="15000"/>
                  </a:schemeClr>
                </a:solidFill>
              </a:rPr>
              <a:t>Data Exploration</a:t>
            </a:r>
            <a:r>
              <a:rPr lang="en-US" sz="3200" dirty="0">
                <a:solidFill>
                  <a:schemeClr val="bg1">
                    <a:lumMod val="85000"/>
                    <a:lumOff val="15000"/>
                  </a:schemeClr>
                </a:solidFill>
              </a:rPr>
              <a:t> </a:t>
            </a:r>
            <a:br>
              <a:rPr lang="en-US" sz="3200" dirty="0"/>
            </a:br>
            <a:r>
              <a:rPr lang="en-US" sz="3200" dirty="0"/>
              <a:t>   </a:t>
            </a:r>
            <a:r>
              <a:rPr lang="en-US" sz="2800" dirty="0">
                <a:solidFill>
                  <a:schemeClr val="accent4">
                    <a:lumMod val="60000"/>
                    <a:lumOff val="40000"/>
                  </a:schemeClr>
                </a:solidFill>
              </a:rPr>
              <a:t>Explore data quality, distributions, and patterns. </a:t>
            </a:r>
            <a:br>
              <a:rPr lang="en-US" sz="3200" dirty="0"/>
            </a:br>
            <a:r>
              <a:rPr lang="en-US" sz="3200" dirty="0">
                <a:solidFill>
                  <a:schemeClr val="bg1">
                    <a:lumMod val="85000"/>
                    <a:lumOff val="15000"/>
                  </a:schemeClr>
                </a:solidFill>
              </a:rPr>
              <a:t>3.</a:t>
            </a:r>
            <a:r>
              <a:rPr lang="en-US" sz="3200" b="1" dirty="0">
                <a:solidFill>
                  <a:schemeClr val="bg1">
                    <a:lumMod val="85000"/>
                    <a:lumOff val="15000"/>
                  </a:schemeClr>
                </a:solidFill>
              </a:rPr>
              <a:t>Data Cleaning</a:t>
            </a:r>
            <a:r>
              <a:rPr lang="en-US" sz="3200" dirty="0">
                <a:solidFill>
                  <a:schemeClr val="bg1">
                    <a:lumMod val="85000"/>
                    <a:lumOff val="15000"/>
                  </a:schemeClr>
                </a:solidFill>
              </a:rPr>
              <a:t> </a:t>
            </a:r>
            <a:br>
              <a:rPr lang="en-US" sz="3200" dirty="0"/>
            </a:br>
            <a:r>
              <a:rPr lang="en-US" sz="3200" dirty="0"/>
              <a:t>   </a:t>
            </a:r>
            <a:r>
              <a:rPr lang="en-US" sz="2800" dirty="0">
                <a:solidFill>
                  <a:schemeClr val="accent4">
                    <a:lumMod val="60000"/>
                    <a:lumOff val="40000"/>
                  </a:schemeClr>
                </a:solidFill>
              </a:rPr>
              <a:t>Prepare and transform the data for analysis. </a:t>
            </a:r>
            <a:br>
              <a:rPr lang="en-US" sz="3200" dirty="0"/>
            </a:br>
            <a:r>
              <a:rPr lang="en-US" sz="3200" dirty="0">
                <a:solidFill>
                  <a:schemeClr val="bg1">
                    <a:lumMod val="85000"/>
                    <a:lumOff val="15000"/>
                  </a:schemeClr>
                </a:solidFill>
              </a:rPr>
              <a:t>4.</a:t>
            </a:r>
            <a:r>
              <a:rPr lang="en-US" sz="3200" b="1" dirty="0">
                <a:solidFill>
                  <a:schemeClr val="bg1">
                    <a:lumMod val="85000"/>
                    <a:lumOff val="15000"/>
                  </a:schemeClr>
                </a:solidFill>
              </a:rPr>
              <a:t>Data Analysis</a:t>
            </a:r>
            <a:r>
              <a:rPr lang="en-US" sz="3200" dirty="0">
                <a:solidFill>
                  <a:schemeClr val="bg1">
                    <a:lumMod val="85000"/>
                    <a:lumOff val="15000"/>
                  </a:schemeClr>
                </a:solidFill>
              </a:rPr>
              <a:t> </a:t>
            </a:r>
            <a:br>
              <a:rPr lang="en-US" sz="3200" dirty="0"/>
            </a:br>
            <a:r>
              <a:rPr lang="en-US" sz="3200" dirty="0"/>
              <a:t>   </a:t>
            </a:r>
            <a:r>
              <a:rPr lang="en-US" sz="2800" dirty="0">
                <a:solidFill>
                  <a:schemeClr val="accent4">
                    <a:lumMod val="60000"/>
                    <a:lumOff val="40000"/>
                  </a:schemeClr>
                </a:solidFill>
              </a:rPr>
              <a:t>Extract insights and visualize business performance</a:t>
            </a:r>
            <a:endParaRPr lang="en-US" sz="3200" dirty="0">
              <a:solidFill>
                <a:schemeClr val="accent4">
                  <a:lumMod val="60000"/>
                  <a:lumOff val="40000"/>
                </a:schemeClr>
              </a:solidFill>
            </a:endParaRPr>
          </a:p>
        </p:txBody>
      </p:sp>
    </p:spTree>
    <p:extLst>
      <p:ext uri="{BB962C8B-B14F-4D97-AF65-F5344CB8AC3E}">
        <p14:creationId xmlns:p14="http://schemas.microsoft.com/office/powerpoint/2010/main" val="694917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D8496-307E-D33C-2CF0-8FBBB49EA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2AF46-D8A7-72BB-85B9-54E17E51FD1E}"/>
              </a:ext>
            </a:extLst>
          </p:cNvPr>
          <p:cNvSpPr>
            <a:spLocks noGrp="1"/>
          </p:cNvSpPr>
          <p:nvPr>
            <p:ph type="ctrTitle"/>
          </p:nvPr>
        </p:nvSpPr>
        <p:spPr>
          <a:xfrm>
            <a:off x="480767" y="383226"/>
            <a:ext cx="9360817" cy="858973"/>
          </a:xfrm>
        </p:spPr>
        <p:txBody>
          <a:bodyPr>
            <a:normAutofit/>
          </a:bodyPr>
          <a:lstStyle/>
          <a:p>
            <a:r>
              <a:rPr lang="en-US" sz="4800" dirty="0">
                <a:solidFill>
                  <a:schemeClr val="bg1"/>
                </a:solidFill>
                <a:effectLst>
                  <a:outerShdw blurRad="38100" dist="38100" dir="2700000" algn="tl">
                    <a:srgbClr val="000000">
                      <a:alpha val="43137"/>
                    </a:srgbClr>
                  </a:outerShdw>
                </a:effectLst>
              </a:rPr>
              <a:t>1.Understanding the dataset</a:t>
            </a:r>
          </a:p>
        </p:txBody>
      </p:sp>
      <p:sp>
        <p:nvSpPr>
          <p:cNvPr id="4" name="Title 1">
            <a:extLst>
              <a:ext uri="{FF2B5EF4-FFF2-40B4-BE49-F238E27FC236}">
                <a16:creationId xmlns:a16="http://schemas.microsoft.com/office/drawing/2014/main" id="{845669A1-7FA7-34CC-24D4-860C4051454B}"/>
              </a:ext>
            </a:extLst>
          </p:cNvPr>
          <p:cNvSpPr txBox="1">
            <a:spLocks/>
          </p:cNvSpPr>
          <p:nvPr/>
        </p:nvSpPr>
        <p:spPr>
          <a:xfrm>
            <a:off x="248238" y="1293925"/>
            <a:ext cx="1655977" cy="606021"/>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u="sng" dirty="0">
                <a:solidFill>
                  <a:schemeClr val="bg1">
                    <a:lumMod val="85000"/>
                    <a:lumOff val="15000"/>
                  </a:schemeClr>
                </a:solidFill>
                <a:effectLst>
                  <a:outerShdw blurRad="38100" dist="38100" dir="2700000" algn="tl">
                    <a:srgbClr val="000000">
                      <a:alpha val="43137"/>
                    </a:srgbClr>
                  </a:outerShdw>
                </a:effectLst>
              </a:rPr>
              <a:t>Overview</a:t>
            </a:r>
            <a:endParaRPr lang="en-US" sz="1800" b="1" u="sng" dirty="0">
              <a:solidFill>
                <a:schemeClr val="bg1">
                  <a:lumMod val="85000"/>
                  <a:lumOff val="15000"/>
                </a:schemeClr>
              </a:solidFill>
              <a:effectLst>
                <a:outerShdw blurRad="38100" dist="38100" dir="2700000" algn="tl">
                  <a:srgbClr val="000000">
                    <a:alpha val="43137"/>
                  </a:srgbClr>
                </a:outerShdw>
              </a:effectLst>
            </a:endParaRPr>
          </a:p>
        </p:txBody>
      </p:sp>
      <p:pic>
        <p:nvPicPr>
          <p:cNvPr id="5" name="Picture 4">
            <a:extLst>
              <a:ext uri="{FF2B5EF4-FFF2-40B4-BE49-F238E27FC236}">
                <a16:creationId xmlns:a16="http://schemas.microsoft.com/office/drawing/2014/main" id="{827ECE22-C899-3658-8E16-B75576F0AD7A}"/>
              </a:ext>
            </a:extLst>
          </p:cNvPr>
          <p:cNvPicPr>
            <a:picLocks noChangeAspect="1"/>
          </p:cNvPicPr>
          <p:nvPr/>
        </p:nvPicPr>
        <p:blipFill>
          <a:blip r:embed="rId2"/>
          <a:stretch>
            <a:fillRect/>
          </a:stretch>
        </p:blipFill>
        <p:spPr>
          <a:xfrm>
            <a:off x="6268825" y="2244380"/>
            <a:ext cx="5714901" cy="2657557"/>
          </a:xfrm>
          <a:prstGeom prst="rect">
            <a:avLst/>
          </a:prstGeom>
        </p:spPr>
      </p:pic>
      <p:sp>
        <p:nvSpPr>
          <p:cNvPr id="8" name="Rectangle 2">
            <a:extLst>
              <a:ext uri="{FF2B5EF4-FFF2-40B4-BE49-F238E27FC236}">
                <a16:creationId xmlns:a16="http://schemas.microsoft.com/office/drawing/2014/main" id="{9825292A-7F47-80E1-4D2A-3F23F46764EF}"/>
              </a:ext>
            </a:extLst>
          </p:cNvPr>
          <p:cNvSpPr>
            <a:spLocks noChangeArrowheads="1"/>
          </p:cNvSpPr>
          <p:nvPr/>
        </p:nvSpPr>
        <p:spPr bwMode="auto">
          <a:xfrm>
            <a:off x="336090" y="1951672"/>
            <a:ext cx="575991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rPr>
              <a:t>The dataset contains sales transactions from a restaurant. </a:t>
            </a:r>
            <a:endParaRPr kumimoji="0" lang="ar-EG" altLang="en-US" sz="1600" b="0" i="0" u="none" strike="noStrike" cap="none" normalizeH="0" baseline="0" dirty="0">
              <a:ln>
                <a:noFill/>
              </a:ln>
              <a:solidFill>
                <a:schemeClr val="accent4">
                  <a:lumMod val="60000"/>
                  <a:lumOff val="40000"/>
                </a:schemeClr>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rPr>
              <a:t>Each row represents a single customer order.</a:t>
            </a:r>
            <a:endParaRPr kumimoji="0" lang="ar-EG" altLang="en-US" sz="1600" b="0" i="0" u="none" strike="noStrike" cap="none" normalizeH="0" baseline="0" dirty="0">
              <a:ln>
                <a:noFill/>
              </a:ln>
              <a:solidFill>
                <a:schemeClr val="accent4">
                  <a:lumMod val="60000"/>
                  <a:lumOff val="40000"/>
                </a:schemeClr>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rPr>
              <a:t>It includes information about customers, orders, menu items,</a:t>
            </a:r>
            <a:endParaRPr kumimoji="0" lang="ar-EG" altLang="en-US" sz="1600" b="0" i="0" u="none" strike="noStrike" cap="none" normalizeH="0" baseline="0" dirty="0">
              <a:ln>
                <a:noFill/>
              </a:ln>
              <a:solidFill>
                <a:schemeClr val="accent4">
                  <a:lumMod val="60000"/>
                  <a:lumOff val="40000"/>
                </a:schemeClr>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rPr>
              <a:t> </a:t>
            </a:r>
            <a:r>
              <a:rPr kumimoji="0" lang="ar-EG" altLang="en-US" sz="1600" b="0" i="0" u="none" strike="noStrike" cap="none" normalizeH="0" baseline="0" dirty="0">
                <a:ln>
                  <a:noFill/>
                </a:ln>
                <a:solidFill>
                  <a:schemeClr val="accent4">
                    <a:lumMod val="60000"/>
                    <a:lumOff val="40000"/>
                  </a:schemeClr>
                </a:solidFill>
                <a:effectLst/>
                <a:latin typeface="Arial" panose="020B0604020202020204" pitchFamily="34" charset="0"/>
              </a:rPr>
              <a:t>     </a:t>
            </a:r>
            <a:r>
              <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rPr>
              <a:t>payment methods, and sales values. </a:t>
            </a:r>
            <a:endParaRPr kumimoji="0" lang="ar-EG" altLang="en-US" sz="1600" b="0" i="0" u="none" strike="noStrike" cap="none" normalizeH="0" baseline="0" dirty="0">
              <a:ln>
                <a:noFill/>
              </a:ln>
              <a:solidFill>
                <a:schemeClr val="accent4">
                  <a:lumMod val="60000"/>
                  <a:lumOff val="40000"/>
                </a:schemeClr>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rPr>
              <a:t>The data is used to analyze restaurant performance, </a:t>
            </a:r>
            <a:endParaRPr kumimoji="0" lang="ar-EG" altLang="en-US" sz="1600" b="0" i="0" u="none" strike="noStrike" cap="none" normalizeH="0" baseline="0" dirty="0">
              <a:ln>
                <a:noFill/>
              </a:ln>
              <a:solidFill>
                <a:schemeClr val="accent4">
                  <a:lumMod val="60000"/>
                  <a:lumOff val="40000"/>
                </a:schemeClr>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tabLst/>
            </a:pPr>
            <a:r>
              <a:rPr lang="ar-EG" altLang="en-US" sz="1600" dirty="0">
                <a:solidFill>
                  <a:schemeClr val="accent4">
                    <a:lumMod val="60000"/>
                    <a:lumOff val="40000"/>
                  </a:schemeClr>
                </a:solidFill>
                <a:latin typeface="Arial" panose="020B0604020202020204" pitchFamily="34" charset="0"/>
              </a:rPr>
              <a:t>      </a:t>
            </a:r>
            <a:r>
              <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rPr>
              <a:t>customer behavior, and sales trends </a:t>
            </a:r>
          </a:p>
        </p:txBody>
      </p:sp>
      <p:sp>
        <p:nvSpPr>
          <p:cNvPr id="9" name="Title 1">
            <a:extLst>
              <a:ext uri="{FF2B5EF4-FFF2-40B4-BE49-F238E27FC236}">
                <a16:creationId xmlns:a16="http://schemas.microsoft.com/office/drawing/2014/main" id="{80C08A81-62EF-87FF-7224-3B077BDE326F}"/>
              </a:ext>
            </a:extLst>
          </p:cNvPr>
          <p:cNvSpPr txBox="1">
            <a:spLocks/>
          </p:cNvSpPr>
          <p:nvPr/>
        </p:nvSpPr>
        <p:spPr>
          <a:xfrm>
            <a:off x="248237" y="4506217"/>
            <a:ext cx="1655977" cy="606021"/>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u="sng" dirty="0">
                <a:solidFill>
                  <a:schemeClr val="bg1">
                    <a:lumMod val="85000"/>
                    <a:lumOff val="15000"/>
                  </a:schemeClr>
                </a:solidFill>
                <a:effectLst>
                  <a:outerShdw blurRad="38100" dist="38100" dir="2700000" algn="tl">
                    <a:srgbClr val="000000">
                      <a:alpha val="43137"/>
                    </a:srgbClr>
                  </a:outerShdw>
                </a:effectLst>
              </a:rPr>
              <a:t>Objective</a:t>
            </a:r>
            <a:endParaRPr lang="en-US" sz="1800" b="1" u="sng" dirty="0">
              <a:solidFill>
                <a:schemeClr val="bg1">
                  <a:lumMod val="85000"/>
                  <a:lumOff val="15000"/>
                </a:schemeClr>
              </a:solidFill>
              <a:effectLst>
                <a:outerShdw blurRad="38100" dist="38100" dir="2700000" algn="tl">
                  <a:srgbClr val="000000">
                    <a:alpha val="43137"/>
                  </a:srgbClr>
                </a:outerShdw>
              </a:effectLst>
            </a:endParaRPr>
          </a:p>
        </p:txBody>
      </p:sp>
      <p:sp>
        <p:nvSpPr>
          <p:cNvPr id="11" name="Rectangle 2">
            <a:extLst>
              <a:ext uri="{FF2B5EF4-FFF2-40B4-BE49-F238E27FC236}">
                <a16:creationId xmlns:a16="http://schemas.microsoft.com/office/drawing/2014/main" id="{4DFD12B3-0A82-3333-B59C-ED3025C0547A}"/>
              </a:ext>
            </a:extLst>
          </p:cNvPr>
          <p:cNvSpPr>
            <a:spLocks noChangeArrowheads="1"/>
          </p:cNvSpPr>
          <p:nvPr/>
        </p:nvSpPr>
        <p:spPr bwMode="auto">
          <a:xfrm>
            <a:off x="248237" y="5299968"/>
            <a:ext cx="95942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sz="1600" dirty="0">
                <a:solidFill>
                  <a:schemeClr val="accent4">
                    <a:lumMod val="60000"/>
                    <a:lumOff val="40000"/>
                  </a:schemeClr>
                </a:solidFill>
              </a:rPr>
              <a:t>Understand customer purchasing behavior, identify sales trends, evaluate menu performance, </a:t>
            </a:r>
            <a:endParaRPr lang="ar-EG" sz="1600" dirty="0">
              <a:solidFill>
                <a:schemeClr val="accent4">
                  <a:lumMod val="60000"/>
                  <a:lumOff val="40000"/>
                </a:schemeClr>
              </a:solidFill>
            </a:endParaRPr>
          </a:p>
          <a:p>
            <a:pPr lvl="0" defTabSz="914400" eaLnBrk="0" fontAlgn="base" hangingPunct="0">
              <a:spcBef>
                <a:spcPct val="0"/>
              </a:spcBef>
              <a:spcAft>
                <a:spcPct val="0"/>
              </a:spcAft>
            </a:pPr>
            <a:r>
              <a:rPr lang="en-US" sz="1600" dirty="0">
                <a:solidFill>
                  <a:schemeClr val="accent4">
                    <a:lumMod val="60000"/>
                    <a:lumOff val="40000"/>
                  </a:schemeClr>
                </a:solidFill>
              </a:rPr>
              <a:t>and support business decision-making</a:t>
            </a:r>
            <a:endParaRPr kumimoji="0" lang="en-US" altLang="en-US" sz="1600" b="0" i="0" u="none" strike="noStrike" cap="none" normalizeH="0" baseline="0" dirty="0">
              <a:ln>
                <a:noFill/>
              </a:ln>
              <a:solidFill>
                <a:schemeClr val="accent4">
                  <a:lumMod val="60000"/>
                  <a:lumOff val="40000"/>
                </a:schemeClr>
              </a:solidFill>
              <a:effectLst/>
              <a:latin typeface="Arial" panose="020B0604020202020204" pitchFamily="34" charset="0"/>
            </a:endParaRPr>
          </a:p>
        </p:txBody>
      </p:sp>
    </p:spTree>
    <p:extLst>
      <p:ext uri="{BB962C8B-B14F-4D97-AF65-F5344CB8AC3E}">
        <p14:creationId xmlns:p14="http://schemas.microsoft.com/office/powerpoint/2010/main" val="1947171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AD9E1-966A-1D76-CF83-BCFFC477E6A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B4DF50AE-1DCA-7443-A579-72C5E31FF610}"/>
              </a:ext>
            </a:extLst>
          </p:cNvPr>
          <p:cNvSpPr>
            <a:spLocks noGrp="1"/>
          </p:cNvSpPr>
          <p:nvPr>
            <p:ph type="ctrTitle"/>
          </p:nvPr>
        </p:nvSpPr>
        <p:spPr>
          <a:xfrm>
            <a:off x="480768" y="383226"/>
            <a:ext cx="6523348" cy="858973"/>
          </a:xfrm>
        </p:spPr>
        <p:txBody>
          <a:bodyPr>
            <a:normAutofit/>
          </a:bodyPr>
          <a:lstStyle/>
          <a:p>
            <a:r>
              <a:rPr lang="en-US" sz="4800" dirty="0">
                <a:solidFill>
                  <a:schemeClr val="bg1"/>
                </a:solidFill>
              </a:rPr>
              <a:t>2.</a:t>
            </a:r>
            <a:r>
              <a:rPr lang="en-US" sz="4800" b="1" dirty="0">
                <a:solidFill>
                  <a:schemeClr val="bg1"/>
                </a:solidFill>
              </a:rPr>
              <a:t>Data Exploration</a:t>
            </a:r>
            <a:r>
              <a:rPr lang="en-US" sz="4800" dirty="0">
                <a:solidFill>
                  <a:schemeClr val="bg1"/>
                </a:solidFill>
              </a:rPr>
              <a:t> </a:t>
            </a:r>
            <a:endParaRPr lang="en-US" sz="4800" dirty="0">
              <a:solidFill>
                <a:schemeClr val="bg1"/>
              </a:solidFill>
              <a:effectLst>
                <a:outerShdw blurRad="38100" dist="38100" dir="2700000" algn="tl">
                  <a:srgbClr val="000000">
                    <a:alpha val="43137"/>
                  </a:srgbClr>
                </a:outerShdw>
              </a:effectLst>
            </a:endParaRPr>
          </a:p>
        </p:txBody>
      </p:sp>
      <p:sp>
        <p:nvSpPr>
          <p:cNvPr id="5" name="Title 1">
            <a:extLst>
              <a:ext uri="{FF2B5EF4-FFF2-40B4-BE49-F238E27FC236}">
                <a16:creationId xmlns:a16="http://schemas.microsoft.com/office/drawing/2014/main" id="{A187DAEC-6548-AAA2-977B-A322AA12DCD8}"/>
              </a:ext>
            </a:extLst>
          </p:cNvPr>
          <p:cNvSpPr txBox="1">
            <a:spLocks/>
          </p:cNvSpPr>
          <p:nvPr/>
        </p:nvSpPr>
        <p:spPr>
          <a:xfrm>
            <a:off x="499619" y="1743958"/>
            <a:ext cx="2300139"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err="1">
                <a:solidFill>
                  <a:schemeClr val="bg1">
                    <a:lumMod val="85000"/>
                    <a:lumOff val="15000"/>
                  </a:schemeClr>
                </a:solidFill>
              </a:rPr>
              <a:t>A.Data</a:t>
            </a:r>
            <a:r>
              <a:rPr lang="en-US" sz="2800" dirty="0">
                <a:solidFill>
                  <a:schemeClr val="bg1">
                    <a:lumMod val="85000"/>
                    <a:lumOff val="15000"/>
                  </a:schemeClr>
                </a:solidFill>
              </a:rPr>
              <a:t> info</a:t>
            </a:r>
            <a:endParaRPr lang="en-US" sz="2800" dirty="0">
              <a:solidFill>
                <a:schemeClr val="bg1">
                  <a:lumMod val="85000"/>
                  <a:lumOff val="15000"/>
                </a:schemeClr>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64BB621F-9DD6-FD9C-4D56-2E52320E805C}"/>
              </a:ext>
            </a:extLst>
          </p:cNvPr>
          <p:cNvPicPr>
            <a:picLocks noChangeAspect="1"/>
          </p:cNvPicPr>
          <p:nvPr/>
        </p:nvPicPr>
        <p:blipFill>
          <a:blip r:embed="rId2"/>
          <a:stretch>
            <a:fillRect/>
          </a:stretch>
        </p:blipFill>
        <p:spPr>
          <a:xfrm>
            <a:off x="7833675" y="1605384"/>
            <a:ext cx="3959257" cy="2184502"/>
          </a:xfrm>
          <a:prstGeom prst="rect">
            <a:avLst/>
          </a:prstGeom>
        </p:spPr>
      </p:pic>
      <p:sp>
        <p:nvSpPr>
          <p:cNvPr id="8" name="Title 1">
            <a:extLst>
              <a:ext uri="{FF2B5EF4-FFF2-40B4-BE49-F238E27FC236}">
                <a16:creationId xmlns:a16="http://schemas.microsoft.com/office/drawing/2014/main" id="{93A65A36-1A2D-B65E-423C-2DFC8FFBC93B}"/>
              </a:ext>
            </a:extLst>
          </p:cNvPr>
          <p:cNvSpPr txBox="1">
            <a:spLocks/>
          </p:cNvSpPr>
          <p:nvPr/>
        </p:nvSpPr>
        <p:spPr>
          <a:xfrm>
            <a:off x="461909" y="2471676"/>
            <a:ext cx="7616857"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solidFill>
                  <a:schemeClr val="accent4">
                    <a:lumMod val="60000"/>
                    <a:lumOff val="40000"/>
                  </a:schemeClr>
                </a:solidFill>
              </a:rPr>
              <a:t>1.Identified several missing (</a:t>
            </a:r>
            <a:r>
              <a:rPr lang="en-US" sz="2000" b="1" dirty="0">
                <a:solidFill>
                  <a:schemeClr val="accent4">
                    <a:lumMod val="60000"/>
                    <a:lumOff val="40000"/>
                  </a:schemeClr>
                </a:solidFill>
              </a:rPr>
              <a:t>null</a:t>
            </a:r>
            <a:r>
              <a:rPr lang="en-US" sz="2000" dirty="0">
                <a:solidFill>
                  <a:schemeClr val="accent4">
                    <a:lumMod val="60000"/>
                    <a:lumOff val="40000"/>
                  </a:schemeClr>
                </a:solidFill>
              </a:rPr>
              <a:t>) values across the dataset</a:t>
            </a:r>
            <a:r>
              <a:rPr lang="en-US" sz="2000" dirty="0"/>
              <a:t>.</a:t>
            </a:r>
            <a:endParaRPr lang="en-US" sz="2000" dirty="0">
              <a:effectLst>
                <a:outerShdw blurRad="38100" dist="38100" dir="2700000" algn="tl">
                  <a:srgbClr val="000000">
                    <a:alpha val="43137"/>
                  </a:srgbClr>
                </a:outerShdw>
              </a:effectLst>
            </a:endParaRPr>
          </a:p>
        </p:txBody>
      </p:sp>
      <p:sp>
        <p:nvSpPr>
          <p:cNvPr id="9" name="Title 1">
            <a:extLst>
              <a:ext uri="{FF2B5EF4-FFF2-40B4-BE49-F238E27FC236}">
                <a16:creationId xmlns:a16="http://schemas.microsoft.com/office/drawing/2014/main" id="{8EFC8CF5-7212-40AA-4F3E-0A0F8A4CFCBE}"/>
              </a:ext>
            </a:extLst>
          </p:cNvPr>
          <p:cNvSpPr txBox="1">
            <a:spLocks/>
          </p:cNvSpPr>
          <p:nvPr/>
        </p:nvSpPr>
        <p:spPr>
          <a:xfrm>
            <a:off x="499619" y="3199394"/>
            <a:ext cx="7616857"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solidFill>
                  <a:schemeClr val="accent4">
                    <a:lumMod val="60000"/>
                    <a:lumOff val="40000"/>
                  </a:schemeClr>
                </a:solidFill>
              </a:rPr>
              <a:t>2.Detected that the Order Date column was stored </a:t>
            </a:r>
          </a:p>
          <a:p>
            <a:r>
              <a:rPr lang="en-US" sz="2000" dirty="0">
                <a:solidFill>
                  <a:schemeClr val="accent4">
                    <a:lumMod val="60000"/>
                    <a:lumOff val="40000"/>
                  </a:schemeClr>
                </a:solidFill>
              </a:rPr>
              <a:t>   as String instead of </a:t>
            </a:r>
            <a:r>
              <a:rPr lang="en-US" sz="2000" dirty="0" err="1">
                <a:solidFill>
                  <a:schemeClr val="accent4">
                    <a:lumMod val="60000"/>
                    <a:lumOff val="40000"/>
                  </a:schemeClr>
                </a:solidFill>
              </a:rPr>
              <a:t>DateTime</a:t>
            </a:r>
            <a:r>
              <a:rPr lang="en-US" sz="2000" dirty="0">
                <a:solidFill>
                  <a:schemeClr val="accent4">
                    <a:lumMod val="60000"/>
                    <a:lumOff val="40000"/>
                  </a:schemeClr>
                </a:solidFill>
              </a:rPr>
              <a:t>.</a:t>
            </a:r>
            <a:endParaRPr lang="en-US" sz="2000" dirty="0">
              <a:solidFill>
                <a:schemeClr val="accent4">
                  <a:lumMod val="60000"/>
                  <a:lumOff val="40000"/>
                </a:schemeClr>
              </a:solidFill>
              <a:effectLst>
                <a:outerShdw blurRad="38100" dist="38100" dir="2700000" algn="tl">
                  <a:srgbClr val="000000">
                    <a:alpha val="43137"/>
                  </a:srgbClr>
                </a:outerShdw>
              </a:effectLst>
            </a:endParaRPr>
          </a:p>
        </p:txBody>
      </p:sp>
      <p:sp>
        <p:nvSpPr>
          <p:cNvPr id="10" name="Title 1">
            <a:extLst>
              <a:ext uri="{FF2B5EF4-FFF2-40B4-BE49-F238E27FC236}">
                <a16:creationId xmlns:a16="http://schemas.microsoft.com/office/drawing/2014/main" id="{74F7E564-0655-9971-5EFA-D099410AEDF0}"/>
              </a:ext>
            </a:extLst>
          </p:cNvPr>
          <p:cNvSpPr txBox="1">
            <a:spLocks/>
          </p:cNvSpPr>
          <p:nvPr/>
        </p:nvSpPr>
        <p:spPr>
          <a:xfrm>
            <a:off x="388068" y="3927112"/>
            <a:ext cx="2788765"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err="1">
                <a:solidFill>
                  <a:schemeClr val="bg1">
                    <a:lumMod val="85000"/>
                    <a:lumOff val="15000"/>
                  </a:schemeClr>
                </a:solidFill>
              </a:rPr>
              <a:t>B.Null</a:t>
            </a:r>
            <a:r>
              <a:rPr lang="en-US" sz="2800" dirty="0">
                <a:solidFill>
                  <a:schemeClr val="bg1">
                    <a:lumMod val="85000"/>
                    <a:lumOff val="15000"/>
                  </a:schemeClr>
                </a:solidFill>
              </a:rPr>
              <a:t> values</a:t>
            </a:r>
            <a:endParaRPr lang="en-US" sz="2800" dirty="0">
              <a:solidFill>
                <a:schemeClr val="bg1">
                  <a:lumMod val="85000"/>
                  <a:lumOff val="15000"/>
                </a:schemeClr>
              </a:solidFill>
              <a:effectLst>
                <a:outerShdw blurRad="38100" dist="38100" dir="2700000" algn="tl">
                  <a:srgbClr val="000000">
                    <a:alpha val="43137"/>
                  </a:srgbClr>
                </a:outerShdw>
              </a:effectLst>
            </a:endParaRPr>
          </a:p>
        </p:txBody>
      </p:sp>
      <p:pic>
        <p:nvPicPr>
          <p:cNvPr id="14" name="Picture 13">
            <a:extLst>
              <a:ext uri="{FF2B5EF4-FFF2-40B4-BE49-F238E27FC236}">
                <a16:creationId xmlns:a16="http://schemas.microsoft.com/office/drawing/2014/main" id="{CC92184B-5522-D960-851F-A784A1216E5B}"/>
              </a:ext>
            </a:extLst>
          </p:cNvPr>
          <p:cNvPicPr>
            <a:picLocks noChangeAspect="1"/>
          </p:cNvPicPr>
          <p:nvPr/>
        </p:nvPicPr>
        <p:blipFill>
          <a:blip r:embed="rId3"/>
          <a:stretch>
            <a:fillRect/>
          </a:stretch>
        </p:blipFill>
        <p:spPr>
          <a:xfrm>
            <a:off x="7833675" y="4259789"/>
            <a:ext cx="2114845" cy="2248214"/>
          </a:xfrm>
          <a:prstGeom prst="rect">
            <a:avLst/>
          </a:prstGeom>
        </p:spPr>
      </p:pic>
      <p:sp>
        <p:nvSpPr>
          <p:cNvPr id="15" name="Title 1">
            <a:extLst>
              <a:ext uri="{FF2B5EF4-FFF2-40B4-BE49-F238E27FC236}">
                <a16:creationId xmlns:a16="http://schemas.microsoft.com/office/drawing/2014/main" id="{133693B6-7737-7638-78F4-266D9989A6E5}"/>
              </a:ext>
            </a:extLst>
          </p:cNvPr>
          <p:cNvSpPr txBox="1">
            <a:spLocks/>
          </p:cNvSpPr>
          <p:nvPr/>
        </p:nvSpPr>
        <p:spPr>
          <a:xfrm>
            <a:off x="388068" y="6022855"/>
            <a:ext cx="7445607"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solidFill>
                  <a:schemeClr val="accent4">
                    <a:lumMod val="60000"/>
                    <a:lumOff val="40000"/>
                  </a:schemeClr>
                </a:solidFill>
              </a:rPr>
              <a:t>1.Identified two columns with the same number of missing </a:t>
            </a:r>
          </a:p>
          <a:p>
            <a:r>
              <a:rPr lang="en-US" sz="2000" dirty="0">
                <a:solidFill>
                  <a:schemeClr val="accent4">
                    <a:lumMod val="60000"/>
                    <a:lumOff val="40000"/>
                  </a:schemeClr>
                </a:solidFill>
              </a:rPr>
              <a:t>      values</a:t>
            </a:r>
          </a:p>
          <a:p>
            <a:r>
              <a:rPr lang="en-US" sz="2000" dirty="0">
                <a:solidFill>
                  <a:schemeClr val="accent4">
                    <a:lumMod val="60000"/>
                    <a:lumOff val="40000"/>
                  </a:schemeClr>
                </a:solidFill>
                <a:effectLst>
                  <a:outerShdw blurRad="38100" dist="38100" dir="2700000" algn="tl">
                    <a:srgbClr val="000000">
                      <a:alpha val="43137"/>
                    </a:srgbClr>
                  </a:outerShdw>
                </a:effectLst>
              </a:rPr>
              <a:t>2.</a:t>
            </a:r>
            <a:r>
              <a:rPr lang="en-US" sz="2000" dirty="0">
                <a:solidFill>
                  <a:schemeClr val="accent4">
                    <a:lumMod val="60000"/>
                    <a:lumOff val="40000"/>
                  </a:schemeClr>
                </a:solidFill>
              </a:rPr>
              <a:t> Calculated the percentage of missing values for each</a:t>
            </a:r>
          </a:p>
          <a:p>
            <a:r>
              <a:rPr lang="en-US" sz="2000" dirty="0">
                <a:solidFill>
                  <a:schemeClr val="accent4">
                    <a:lumMod val="60000"/>
                    <a:lumOff val="40000"/>
                  </a:schemeClr>
                </a:solidFill>
              </a:rPr>
              <a:t>      column</a:t>
            </a:r>
          </a:p>
          <a:p>
            <a:r>
              <a:rPr lang="en-US" sz="2000" dirty="0">
                <a:solidFill>
                  <a:schemeClr val="accent4">
                    <a:lumMod val="60000"/>
                    <a:lumOff val="40000"/>
                  </a:schemeClr>
                </a:solidFill>
                <a:effectLst>
                  <a:outerShdw blurRad="38100" dist="38100" dir="2700000" algn="tl">
                    <a:srgbClr val="000000">
                      <a:alpha val="43137"/>
                    </a:srgbClr>
                  </a:outerShdw>
                </a:effectLst>
              </a:rPr>
              <a:t>3.</a:t>
            </a:r>
            <a:r>
              <a:rPr lang="en-US" sz="2000" dirty="0">
                <a:solidFill>
                  <a:schemeClr val="accent4">
                    <a:lumMod val="60000"/>
                    <a:lumOff val="40000"/>
                  </a:schemeClr>
                </a:solidFill>
              </a:rPr>
              <a:t> Evaluated the impact of missing data before the cleaning process</a:t>
            </a:r>
            <a:r>
              <a:rPr lang="en-US" sz="2000" dirty="0">
                <a:solidFill>
                  <a:schemeClr val="accent4">
                    <a:lumMod val="60000"/>
                    <a:lumOff val="40000"/>
                  </a:schemeClr>
                </a:solidFill>
                <a:effectLst>
                  <a:outerShdw blurRad="38100" dist="38100" dir="2700000" algn="tl">
                    <a:srgbClr val="000000">
                      <a:alpha val="43137"/>
                    </a:srgbClr>
                  </a:outerShdw>
                </a:effectLst>
              </a:rPr>
              <a:t> </a:t>
            </a:r>
            <a:endParaRPr lang="en-US" sz="2000" dirty="0">
              <a:solidFill>
                <a:schemeClr val="accent4">
                  <a:lumMod val="60000"/>
                  <a:lumOff val="40000"/>
                </a:schemeClr>
              </a:solidFill>
            </a:endParaRPr>
          </a:p>
        </p:txBody>
      </p:sp>
    </p:spTree>
    <p:extLst>
      <p:ext uri="{BB962C8B-B14F-4D97-AF65-F5344CB8AC3E}">
        <p14:creationId xmlns:p14="http://schemas.microsoft.com/office/powerpoint/2010/main" val="3566589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83A74-9363-52F4-485E-56E591F3370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D7EB2EB-919C-3760-F4E2-B2CBDE666C3B}"/>
              </a:ext>
            </a:extLst>
          </p:cNvPr>
          <p:cNvSpPr txBox="1">
            <a:spLocks/>
          </p:cNvSpPr>
          <p:nvPr/>
        </p:nvSpPr>
        <p:spPr>
          <a:xfrm>
            <a:off x="480767" y="5439266"/>
            <a:ext cx="6815580" cy="606021"/>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3200" dirty="0"/>
          </a:p>
        </p:txBody>
      </p:sp>
      <p:sp>
        <p:nvSpPr>
          <p:cNvPr id="3" name="Title 1">
            <a:extLst>
              <a:ext uri="{FF2B5EF4-FFF2-40B4-BE49-F238E27FC236}">
                <a16:creationId xmlns:a16="http://schemas.microsoft.com/office/drawing/2014/main" id="{8A33C9AB-4CAC-1924-1A3E-FD568646FE57}"/>
              </a:ext>
            </a:extLst>
          </p:cNvPr>
          <p:cNvSpPr txBox="1">
            <a:spLocks/>
          </p:cNvSpPr>
          <p:nvPr/>
        </p:nvSpPr>
        <p:spPr>
          <a:xfrm>
            <a:off x="480767" y="586753"/>
            <a:ext cx="4091233"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bg1">
                    <a:lumMod val="85000"/>
                    <a:lumOff val="15000"/>
                  </a:schemeClr>
                </a:solidFill>
              </a:rPr>
              <a:t>C. Check duplicates</a:t>
            </a:r>
            <a:endParaRPr lang="en-US" sz="2800" dirty="0">
              <a:solidFill>
                <a:schemeClr val="bg1">
                  <a:lumMod val="85000"/>
                  <a:lumOff val="15000"/>
                </a:schemeClr>
              </a:solidFill>
              <a:effectLst>
                <a:outerShdw blurRad="38100" dist="38100" dir="2700000" algn="tl">
                  <a:srgbClr val="000000">
                    <a:alpha val="43137"/>
                  </a:srgbClr>
                </a:outerShdw>
              </a:effectLst>
            </a:endParaRPr>
          </a:p>
        </p:txBody>
      </p:sp>
      <p:sp>
        <p:nvSpPr>
          <p:cNvPr id="5" name="Title 1">
            <a:extLst>
              <a:ext uri="{FF2B5EF4-FFF2-40B4-BE49-F238E27FC236}">
                <a16:creationId xmlns:a16="http://schemas.microsoft.com/office/drawing/2014/main" id="{BA802EAF-074D-C33F-2073-7F18730C0272}"/>
              </a:ext>
            </a:extLst>
          </p:cNvPr>
          <p:cNvSpPr txBox="1">
            <a:spLocks/>
          </p:cNvSpPr>
          <p:nvPr/>
        </p:nvSpPr>
        <p:spPr>
          <a:xfrm>
            <a:off x="480767" y="1201066"/>
            <a:ext cx="4703975"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    There are no duplicates</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7D39C484-3CAA-C1E5-964D-6743EE91E3E7}"/>
              </a:ext>
            </a:extLst>
          </p:cNvPr>
          <p:cNvPicPr>
            <a:picLocks noChangeAspect="1"/>
          </p:cNvPicPr>
          <p:nvPr/>
        </p:nvPicPr>
        <p:blipFill>
          <a:blip r:embed="rId2"/>
          <a:stretch>
            <a:fillRect/>
          </a:stretch>
        </p:blipFill>
        <p:spPr>
          <a:xfrm>
            <a:off x="7132954" y="822103"/>
            <a:ext cx="3140718" cy="1209844"/>
          </a:xfrm>
          <a:prstGeom prst="rect">
            <a:avLst/>
          </a:prstGeom>
        </p:spPr>
      </p:pic>
      <p:sp>
        <p:nvSpPr>
          <p:cNvPr id="8" name="Title 1">
            <a:extLst>
              <a:ext uri="{FF2B5EF4-FFF2-40B4-BE49-F238E27FC236}">
                <a16:creationId xmlns:a16="http://schemas.microsoft.com/office/drawing/2014/main" id="{744E8117-EA58-4A93-FC3E-4102345A942D}"/>
              </a:ext>
            </a:extLst>
          </p:cNvPr>
          <p:cNvSpPr txBox="1">
            <a:spLocks/>
          </p:cNvSpPr>
          <p:nvPr/>
        </p:nvSpPr>
        <p:spPr>
          <a:xfrm>
            <a:off x="480767" y="2253934"/>
            <a:ext cx="4091233"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bg1">
                    <a:lumMod val="85000"/>
                    <a:lumOff val="15000"/>
                  </a:schemeClr>
                </a:solidFill>
              </a:rPr>
              <a:t>D. Check description  </a:t>
            </a:r>
            <a:endParaRPr lang="en-US" sz="2800" dirty="0">
              <a:solidFill>
                <a:schemeClr val="bg1">
                  <a:lumMod val="85000"/>
                  <a:lumOff val="15000"/>
                </a:schemeClr>
              </a:solidFill>
              <a:effectLst>
                <a:outerShdw blurRad="38100" dist="38100" dir="2700000" algn="tl">
                  <a:srgbClr val="000000">
                    <a:alpha val="43137"/>
                  </a:srgbClr>
                </a:outerShdw>
              </a:effectLst>
            </a:endParaRPr>
          </a:p>
        </p:txBody>
      </p:sp>
      <p:pic>
        <p:nvPicPr>
          <p:cNvPr id="10" name="Picture 9">
            <a:extLst>
              <a:ext uri="{FF2B5EF4-FFF2-40B4-BE49-F238E27FC236}">
                <a16:creationId xmlns:a16="http://schemas.microsoft.com/office/drawing/2014/main" id="{FAA4E86A-C1D5-3EB5-96A4-AFADBD92D051}"/>
              </a:ext>
            </a:extLst>
          </p:cNvPr>
          <p:cNvPicPr>
            <a:picLocks noChangeAspect="1"/>
          </p:cNvPicPr>
          <p:nvPr/>
        </p:nvPicPr>
        <p:blipFill>
          <a:blip r:embed="rId3"/>
          <a:stretch>
            <a:fillRect/>
          </a:stretch>
        </p:blipFill>
        <p:spPr>
          <a:xfrm>
            <a:off x="7136092" y="2253934"/>
            <a:ext cx="3629320" cy="3067478"/>
          </a:xfrm>
          <a:prstGeom prst="rect">
            <a:avLst/>
          </a:prstGeom>
        </p:spPr>
      </p:pic>
      <p:sp>
        <p:nvSpPr>
          <p:cNvPr id="11" name="Title 1">
            <a:extLst>
              <a:ext uri="{FF2B5EF4-FFF2-40B4-BE49-F238E27FC236}">
                <a16:creationId xmlns:a16="http://schemas.microsoft.com/office/drawing/2014/main" id="{85A1261E-30FA-4477-6602-144CEA163110}"/>
              </a:ext>
            </a:extLst>
          </p:cNvPr>
          <p:cNvSpPr txBox="1">
            <a:spLocks/>
          </p:cNvSpPr>
          <p:nvPr/>
        </p:nvSpPr>
        <p:spPr>
          <a:xfrm>
            <a:off x="937967" y="3320166"/>
            <a:ext cx="5901179"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It provides summary statistics that can be used to detect outliers</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sp>
        <p:nvSpPr>
          <p:cNvPr id="12" name="Title 1">
            <a:extLst>
              <a:ext uri="{FF2B5EF4-FFF2-40B4-BE49-F238E27FC236}">
                <a16:creationId xmlns:a16="http://schemas.microsoft.com/office/drawing/2014/main" id="{07FBCF46-7D30-D760-09C3-D1BF77A1AD6D}"/>
              </a:ext>
            </a:extLst>
          </p:cNvPr>
          <p:cNvSpPr txBox="1">
            <a:spLocks/>
          </p:cNvSpPr>
          <p:nvPr/>
        </p:nvSpPr>
        <p:spPr>
          <a:xfrm>
            <a:off x="480767" y="4445991"/>
            <a:ext cx="6358379"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a:solidFill>
                  <a:schemeClr val="bg1">
                    <a:lumMod val="85000"/>
                    <a:lumOff val="15000"/>
                  </a:schemeClr>
                </a:solidFill>
              </a:rPr>
              <a:t>D. Check description for </a:t>
            </a:r>
            <a:r>
              <a:rPr lang="en-US" sz="2800" dirty="0" err="1">
                <a:solidFill>
                  <a:schemeClr val="bg1">
                    <a:lumMod val="85000"/>
                    <a:lumOff val="15000"/>
                  </a:schemeClr>
                </a:solidFill>
              </a:rPr>
              <a:t>caterigal</a:t>
            </a:r>
            <a:r>
              <a:rPr lang="en-US" sz="2800" dirty="0">
                <a:solidFill>
                  <a:schemeClr val="bg1">
                    <a:lumMod val="85000"/>
                    <a:lumOff val="15000"/>
                  </a:schemeClr>
                </a:solidFill>
              </a:rPr>
              <a:t> columns  </a:t>
            </a:r>
            <a:endParaRPr lang="en-US" sz="2800" dirty="0">
              <a:solidFill>
                <a:schemeClr val="bg1">
                  <a:lumMod val="85000"/>
                  <a:lumOff val="15000"/>
                </a:schemeClr>
              </a:solidFill>
              <a:effectLst>
                <a:outerShdw blurRad="38100" dist="38100" dir="2700000" algn="tl">
                  <a:srgbClr val="000000">
                    <a:alpha val="43137"/>
                  </a:srgbClr>
                </a:outerShdw>
              </a:effectLst>
            </a:endParaRPr>
          </a:p>
        </p:txBody>
      </p:sp>
      <p:pic>
        <p:nvPicPr>
          <p:cNvPr id="14" name="Picture 13">
            <a:extLst>
              <a:ext uri="{FF2B5EF4-FFF2-40B4-BE49-F238E27FC236}">
                <a16:creationId xmlns:a16="http://schemas.microsoft.com/office/drawing/2014/main" id="{BBB1DA25-FFB2-D60B-0178-2C612B53ECF8}"/>
              </a:ext>
            </a:extLst>
          </p:cNvPr>
          <p:cNvPicPr>
            <a:picLocks noChangeAspect="1"/>
          </p:cNvPicPr>
          <p:nvPr/>
        </p:nvPicPr>
        <p:blipFill>
          <a:blip r:embed="rId4"/>
          <a:stretch>
            <a:fillRect/>
          </a:stretch>
        </p:blipFill>
        <p:spPr>
          <a:xfrm>
            <a:off x="266657" y="5251670"/>
            <a:ext cx="6358379" cy="1209844"/>
          </a:xfrm>
          <a:prstGeom prst="rect">
            <a:avLst/>
          </a:prstGeom>
        </p:spPr>
      </p:pic>
    </p:spTree>
    <p:extLst>
      <p:ext uri="{BB962C8B-B14F-4D97-AF65-F5344CB8AC3E}">
        <p14:creationId xmlns:p14="http://schemas.microsoft.com/office/powerpoint/2010/main" val="3537728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72FCF-0209-5FA4-5511-BB4609C704C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BC64275-DDAB-1F09-3CFF-9CB5051D34AB}"/>
              </a:ext>
            </a:extLst>
          </p:cNvPr>
          <p:cNvSpPr txBox="1">
            <a:spLocks/>
          </p:cNvSpPr>
          <p:nvPr/>
        </p:nvSpPr>
        <p:spPr>
          <a:xfrm>
            <a:off x="480767" y="5439266"/>
            <a:ext cx="6815580" cy="606021"/>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3200" dirty="0"/>
          </a:p>
        </p:txBody>
      </p:sp>
      <p:sp>
        <p:nvSpPr>
          <p:cNvPr id="3" name="Title 1">
            <a:extLst>
              <a:ext uri="{FF2B5EF4-FFF2-40B4-BE49-F238E27FC236}">
                <a16:creationId xmlns:a16="http://schemas.microsoft.com/office/drawing/2014/main" id="{F0F55890-86EC-38DF-619A-77508121C958}"/>
              </a:ext>
            </a:extLst>
          </p:cNvPr>
          <p:cNvSpPr txBox="1">
            <a:spLocks/>
          </p:cNvSpPr>
          <p:nvPr/>
        </p:nvSpPr>
        <p:spPr>
          <a:xfrm>
            <a:off x="480768" y="383226"/>
            <a:ext cx="6523348" cy="858973"/>
          </a:xfrm>
          <a:prstGeom prst="rect">
            <a:avLst/>
          </a:prstGeom>
        </p:spPr>
        <p:txBody>
          <a:bodyPr vert="horz" lIns="91440" tIns="45720" rIns="91440" bIns="45720" rtlCol="0" anchor="b">
            <a:norm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800" dirty="0">
                <a:solidFill>
                  <a:schemeClr val="bg1"/>
                </a:solidFill>
              </a:rPr>
              <a:t>3.</a:t>
            </a:r>
            <a:r>
              <a:rPr lang="en-US" sz="4800" b="1" dirty="0">
                <a:solidFill>
                  <a:schemeClr val="bg1"/>
                </a:solidFill>
              </a:rPr>
              <a:t>Data Cleaning</a:t>
            </a:r>
            <a:r>
              <a:rPr lang="en-US" sz="4800" dirty="0">
                <a:solidFill>
                  <a:schemeClr val="bg1"/>
                </a:solidFill>
              </a:rPr>
              <a:t> </a:t>
            </a:r>
            <a:endParaRPr lang="en-US" sz="4800" dirty="0">
              <a:solidFill>
                <a:schemeClr val="bg1"/>
              </a:solidFill>
              <a:effectLst>
                <a:outerShdw blurRad="38100" dist="38100" dir="2700000" algn="tl">
                  <a:srgbClr val="000000">
                    <a:alpha val="43137"/>
                  </a:srgbClr>
                </a:outerShdw>
              </a:effectLst>
            </a:endParaRPr>
          </a:p>
        </p:txBody>
      </p:sp>
      <p:sp>
        <p:nvSpPr>
          <p:cNvPr id="5" name="Title 1">
            <a:extLst>
              <a:ext uri="{FF2B5EF4-FFF2-40B4-BE49-F238E27FC236}">
                <a16:creationId xmlns:a16="http://schemas.microsoft.com/office/drawing/2014/main" id="{C42106D1-5815-C9FF-2CAC-A0CAE532BF8F}"/>
              </a:ext>
            </a:extLst>
          </p:cNvPr>
          <p:cNvSpPr txBox="1">
            <a:spLocks/>
          </p:cNvSpPr>
          <p:nvPr/>
        </p:nvSpPr>
        <p:spPr>
          <a:xfrm>
            <a:off x="480766" y="2079753"/>
            <a:ext cx="8663233"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1.Filled missing values in Payment Method with "Unknown"</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sp>
        <p:nvSpPr>
          <p:cNvPr id="6" name="Title 1">
            <a:extLst>
              <a:ext uri="{FF2B5EF4-FFF2-40B4-BE49-F238E27FC236}">
                <a16:creationId xmlns:a16="http://schemas.microsoft.com/office/drawing/2014/main" id="{5A1DAA0A-A04A-551A-4F57-C3A0B064B12E}"/>
              </a:ext>
            </a:extLst>
          </p:cNvPr>
          <p:cNvSpPr txBox="1">
            <a:spLocks/>
          </p:cNvSpPr>
          <p:nvPr/>
        </p:nvSpPr>
        <p:spPr>
          <a:xfrm>
            <a:off x="480767" y="2785095"/>
            <a:ext cx="8663233"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2.Renamed Order Total to Total Price</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sp>
        <p:nvSpPr>
          <p:cNvPr id="9" name="Title 1">
            <a:extLst>
              <a:ext uri="{FF2B5EF4-FFF2-40B4-BE49-F238E27FC236}">
                <a16:creationId xmlns:a16="http://schemas.microsoft.com/office/drawing/2014/main" id="{903FF271-1F6A-2E3A-FE8B-6F06A4BAE2C8}"/>
              </a:ext>
            </a:extLst>
          </p:cNvPr>
          <p:cNvSpPr txBox="1">
            <a:spLocks/>
          </p:cNvSpPr>
          <p:nvPr/>
        </p:nvSpPr>
        <p:spPr>
          <a:xfrm>
            <a:off x="480766" y="4257116"/>
            <a:ext cx="10567448"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4.Calculated missing Price values using Price = Total Price\Quantity</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sp>
        <p:nvSpPr>
          <p:cNvPr id="10" name="Title 1">
            <a:extLst>
              <a:ext uri="{FF2B5EF4-FFF2-40B4-BE49-F238E27FC236}">
                <a16:creationId xmlns:a16="http://schemas.microsoft.com/office/drawing/2014/main" id="{7AB015A5-498E-4EE5-EE6B-398EA0BDEBA3}"/>
              </a:ext>
            </a:extLst>
          </p:cNvPr>
          <p:cNvSpPr txBox="1">
            <a:spLocks/>
          </p:cNvSpPr>
          <p:nvPr/>
        </p:nvSpPr>
        <p:spPr>
          <a:xfrm>
            <a:off x="480766" y="4932420"/>
            <a:ext cx="10567448"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5. Removed the remaining rows containing missing values.</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sp>
        <p:nvSpPr>
          <p:cNvPr id="12" name="Title 1">
            <a:extLst>
              <a:ext uri="{FF2B5EF4-FFF2-40B4-BE49-F238E27FC236}">
                <a16:creationId xmlns:a16="http://schemas.microsoft.com/office/drawing/2014/main" id="{FBB92188-7387-5722-12C2-F4052446F422}"/>
              </a:ext>
            </a:extLst>
          </p:cNvPr>
          <p:cNvSpPr txBox="1">
            <a:spLocks/>
          </p:cNvSpPr>
          <p:nvPr/>
        </p:nvSpPr>
        <p:spPr>
          <a:xfrm>
            <a:off x="480766" y="3620987"/>
            <a:ext cx="10567448"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3. Changing data type of Order Date column.</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77536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FD175-4591-ECB9-3384-FAD29B44D75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A05C81A-014D-E66A-2756-22BA173ECEA9}"/>
              </a:ext>
            </a:extLst>
          </p:cNvPr>
          <p:cNvSpPr txBox="1">
            <a:spLocks/>
          </p:cNvSpPr>
          <p:nvPr/>
        </p:nvSpPr>
        <p:spPr>
          <a:xfrm>
            <a:off x="395925" y="703439"/>
            <a:ext cx="8663233"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1.Filled missing values in Payment Method with "Unknown"</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22BD56CA-FCB0-54E5-DFEA-0553E2CB444F}"/>
              </a:ext>
            </a:extLst>
          </p:cNvPr>
          <p:cNvPicPr>
            <a:picLocks noChangeAspect="1"/>
          </p:cNvPicPr>
          <p:nvPr/>
        </p:nvPicPr>
        <p:blipFill>
          <a:blip r:embed="rId2"/>
          <a:stretch>
            <a:fillRect/>
          </a:stretch>
        </p:blipFill>
        <p:spPr>
          <a:xfrm>
            <a:off x="636131" y="1331442"/>
            <a:ext cx="5327479" cy="1904510"/>
          </a:xfrm>
          <a:prstGeom prst="rect">
            <a:avLst/>
          </a:prstGeom>
        </p:spPr>
      </p:pic>
      <p:pic>
        <p:nvPicPr>
          <p:cNvPr id="8" name="Picture 7">
            <a:extLst>
              <a:ext uri="{FF2B5EF4-FFF2-40B4-BE49-F238E27FC236}">
                <a16:creationId xmlns:a16="http://schemas.microsoft.com/office/drawing/2014/main" id="{E0FA61B2-2B32-9BA5-0DE3-3D6B4C31FF5E}"/>
              </a:ext>
            </a:extLst>
          </p:cNvPr>
          <p:cNvPicPr>
            <a:picLocks noChangeAspect="1"/>
          </p:cNvPicPr>
          <p:nvPr/>
        </p:nvPicPr>
        <p:blipFill>
          <a:blip r:embed="rId3"/>
          <a:stretch>
            <a:fillRect/>
          </a:stretch>
        </p:blipFill>
        <p:spPr>
          <a:xfrm>
            <a:off x="6491812" y="1331442"/>
            <a:ext cx="5134692" cy="2381582"/>
          </a:xfrm>
          <a:prstGeom prst="rect">
            <a:avLst/>
          </a:prstGeom>
        </p:spPr>
      </p:pic>
      <p:sp>
        <p:nvSpPr>
          <p:cNvPr id="9" name="Title 1">
            <a:extLst>
              <a:ext uri="{FF2B5EF4-FFF2-40B4-BE49-F238E27FC236}">
                <a16:creationId xmlns:a16="http://schemas.microsoft.com/office/drawing/2014/main" id="{20AFBE2A-C166-C15E-11CF-C7214373DD53}"/>
              </a:ext>
            </a:extLst>
          </p:cNvPr>
          <p:cNvSpPr txBox="1">
            <a:spLocks/>
          </p:cNvSpPr>
          <p:nvPr/>
        </p:nvSpPr>
        <p:spPr>
          <a:xfrm>
            <a:off x="509047" y="3713024"/>
            <a:ext cx="8663233"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2.Renamed Order Total to Total Price</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pic>
        <p:nvPicPr>
          <p:cNvPr id="19" name="Picture 18">
            <a:extLst>
              <a:ext uri="{FF2B5EF4-FFF2-40B4-BE49-F238E27FC236}">
                <a16:creationId xmlns:a16="http://schemas.microsoft.com/office/drawing/2014/main" id="{2C362266-BF12-EB67-BC12-57EED3FD56E7}"/>
              </a:ext>
            </a:extLst>
          </p:cNvPr>
          <p:cNvPicPr>
            <a:picLocks noChangeAspect="1"/>
          </p:cNvPicPr>
          <p:nvPr/>
        </p:nvPicPr>
        <p:blipFill>
          <a:blip r:embed="rId4"/>
          <a:stretch>
            <a:fillRect/>
          </a:stretch>
        </p:blipFill>
        <p:spPr>
          <a:xfrm>
            <a:off x="1996348" y="4360447"/>
            <a:ext cx="5334744" cy="847843"/>
          </a:xfrm>
          <a:prstGeom prst="rect">
            <a:avLst/>
          </a:prstGeom>
        </p:spPr>
      </p:pic>
      <p:pic>
        <p:nvPicPr>
          <p:cNvPr id="21" name="Picture 20">
            <a:extLst>
              <a:ext uri="{FF2B5EF4-FFF2-40B4-BE49-F238E27FC236}">
                <a16:creationId xmlns:a16="http://schemas.microsoft.com/office/drawing/2014/main" id="{521CB04C-114A-CFE2-669C-694B3F246A78}"/>
              </a:ext>
            </a:extLst>
          </p:cNvPr>
          <p:cNvPicPr>
            <a:picLocks noChangeAspect="1"/>
          </p:cNvPicPr>
          <p:nvPr/>
        </p:nvPicPr>
        <p:blipFill>
          <a:blip r:embed="rId5"/>
          <a:stretch>
            <a:fillRect/>
          </a:stretch>
        </p:blipFill>
        <p:spPr>
          <a:xfrm>
            <a:off x="395925" y="5403794"/>
            <a:ext cx="8535591" cy="866896"/>
          </a:xfrm>
          <a:prstGeom prst="rect">
            <a:avLst/>
          </a:prstGeom>
        </p:spPr>
      </p:pic>
    </p:spTree>
    <p:extLst>
      <p:ext uri="{BB962C8B-B14F-4D97-AF65-F5344CB8AC3E}">
        <p14:creationId xmlns:p14="http://schemas.microsoft.com/office/powerpoint/2010/main" val="2319127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BD3D0-75D8-4932-05BD-885553E17D6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15FD9FE-E6AB-8181-765E-1BE3D8F051DE}"/>
              </a:ext>
            </a:extLst>
          </p:cNvPr>
          <p:cNvSpPr txBox="1">
            <a:spLocks/>
          </p:cNvSpPr>
          <p:nvPr/>
        </p:nvSpPr>
        <p:spPr>
          <a:xfrm>
            <a:off x="480767" y="5439266"/>
            <a:ext cx="6815580" cy="606021"/>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3200" dirty="0"/>
          </a:p>
        </p:txBody>
      </p:sp>
      <p:sp>
        <p:nvSpPr>
          <p:cNvPr id="3" name="Title 1">
            <a:extLst>
              <a:ext uri="{FF2B5EF4-FFF2-40B4-BE49-F238E27FC236}">
                <a16:creationId xmlns:a16="http://schemas.microsoft.com/office/drawing/2014/main" id="{0520EFCB-3900-0CDA-72A8-CCA386EE33C3}"/>
              </a:ext>
            </a:extLst>
          </p:cNvPr>
          <p:cNvSpPr txBox="1">
            <a:spLocks/>
          </p:cNvSpPr>
          <p:nvPr/>
        </p:nvSpPr>
        <p:spPr>
          <a:xfrm>
            <a:off x="169681" y="812713"/>
            <a:ext cx="10567448"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3. Changing data type of Order Date column.</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pic>
        <p:nvPicPr>
          <p:cNvPr id="13" name="Picture 12">
            <a:extLst>
              <a:ext uri="{FF2B5EF4-FFF2-40B4-BE49-F238E27FC236}">
                <a16:creationId xmlns:a16="http://schemas.microsoft.com/office/drawing/2014/main" id="{064CE445-DFC4-31A4-AA19-585AEE58B133}"/>
              </a:ext>
            </a:extLst>
          </p:cNvPr>
          <p:cNvPicPr>
            <a:picLocks noChangeAspect="1"/>
          </p:cNvPicPr>
          <p:nvPr/>
        </p:nvPicPr>
        <p:blipFill>
          <a:blip r:embed="rId2"/>
          <a:stretch>
            <a:fillRect/>
          </a:stretch>
        </p:blipFill>
        <p:spPr>
          <a:xfrm>
            <a:off x="1076837" y="1911315"/>
            <a:ext cx="5992061" cy="914528"/>
          </a:xfrm>
          <a:prstGeom prst="rect">
            <a:avLst/>
          </a:prstGeom>
        </p:spPr>
      </p:pic>
      <p:pic>
        <p:nvPicPr>
          <p:cNvPr id="15" name="Picture 14">
            <a:extLst>
              <a:ext uri="{FF2B5EF4-FFF2-40B4-BE49-F238E27FC236}">
                <a16:creationId xmlns:a16="http://schemas.microsoft.com/office/drawing/2014/main" id="{1863964A-9927-04B7-1F4A-D18E55DA4A47}"/>
              </a:ext>
            </a:extLst>
          </p:cNvPr>
          <p:cNvPicPr>
            <a:picLocks noChangeAspect="1"/>
          </p:cNvPicPr>
          <p:nvPr/>
        </p:nvPicPr>
        <p:blipFill>
          <a:blip r:embed="rId3"/>
          <a:stretch>
            <a:fillRect/>
          </a:stretch>
        </p:blipFill>
        <p:spPr>
          <a:xfrm>
            <a:off x="2356752" y="3355903"/>
            <a:ext cx="3096653" cy="2689384"/>
          </a:xfrm>
          <a:prstGeom prst="rect">
            <a:avLst/>
          </a:prstGeom>
        </p:spPr>
      </p:pic>
    </p:spTree>
    <p:extLst>
      <p:ext uri="{BB962C8B-B14F-4D97-AF65-F5344CB8AC3E}">
        <p14:creationId xmlns:p14="http://schemas.microsoft.com/office/powerpoint/2010/main" val="1731186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441BD-0FB7-3B85-2C2E-355A3F0E6AF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6CCB899-AE82-2FCC-37B9-D9A36DFB02B6}"/>
              </a:ext>
            </a:extLst>
          </p:cNvPr>
          <p:cNvSpPr txBox="1">
            <a:spLocks/>
          </p:cNvSpPr>
          <p:nvPr/>
        </p:nvSpPr>
        <p:spPr>
          <a:xfrm>
            <a:off x="480767" y="5439266"/>
            <a:ext cx="6815580" cy="606021"/>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3200" dirty="0"/>
          </a:p>
        </p:txBody>
      </p:sp>
      <p:sp>
        <p:nvSpPr>
          <p:cNvPr id="3" name="Title 1">
            <a:extLst>
              <a:ext uri="{FF2B5EF4-FFF2-40B4-BE49-F238E27FC236}">
                <a16:creationId xmlns:a16="http://schemas.microsoft.com/office/drawing/2014/main" id="{717F9D23-2536-3CF5-6B62-99318A93285F}"/>
              </a:ext>
            </a:extLst>
          </p:cNvPr>
          <p:cNvSpPr txBox="1">
            <a:spLocks/>
          </p:cNvSpPr>
          <p:nvPr/>
        </p:nvSpPr>
        <p:spPr>
          <a:xfrm>
            <a:off x="320511" y="360794"/>
            <a:ext cx="10567448"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4.Calculated missing Price values using Price = Total Price\Quantity</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pic>
        <p:nvPicPr>
          <p:cNvPr id="8" name="Picture 7">
            <a:extLst>
              <a:ext uri="{FF2B5EF4-FFF2-40B4-BE49-F238E27FC236}">
                <a16:creationId xmlns:a16="http://schemas.microsoft.com/office/drawing/2014/main" id="{54CAD90A-130B-044E-BFF5-72F451856375}"/>
              </a:ext>
            </a:extLst>
          </p:cNvPr>
          <p:cNvPicPr>
            <a:picLocks noChangeAspect="1"/>
          </p:cNvPicPr>
          <p:nvPr/>
        </p:nvPicPr>
        <p:blipFill>
          <a:blip r:embed="rId2"/>
          <a:stretch>
            <a:fillRect/>
          </a:stretch>
        </p:blipFill>
        <p:spPr>
          <a:xfrm>
            <a:off x="1577779" y="1220557"/>
            <a:ext cx="5474555" cy="2191085"/>
          </a:xfrm>
          <a:prstGeom prst="rect">
            <a:avLst/>
          </a:prstGeom>
        </p:spPr>
      </p:pic>
      <p:pic>
        <p:nvPicPr>
          <p:cNvPr id="10" name="Picture 9">
            <a:extLst>
              <a:ext uri="{FF2B5EF4-FFF2-40B4-BE49-F238E27FC236}">
                <a16:creationId xmlns:a16="http://schemas.microsoft.com/office/drawing/2014/main" id="{5AD5A889-35F6-1AF0-7C7C-26C79B376689}"/>
              </a:ext>
            </a:extLst>
          </p:cNvPr>
          <p:cNvPicPr>
            <a:picLocks noChangeAspect="1"/>
          </p:cNvPicPr>
          <p:nvPr/>
        </p:nvPicPr>
        <p:blipFill>
          <a:blip r:embed="rId3"/>
          <a:stretch>
            <a:fillRect/>
          </a:stretch>
        </p:blipFill>
        <p:spPr>
          <a:xfrm>
            <a:off x="738793" y="3575102"/>
            <a:ext cx="7606036" cy="2470185"/>
          </a:xfrm>
          <a:prstGeom prst="rect">
            <a:avLst/>
          </a:prstGeom>
        </p:spPr>
      </p:pic>
    </p:spTree>
    <p:extLst>
      <p:ext uri="{BB962C8B-B14F-4D97-AF65-F5344CB8AC3E}">
        <p14:creationId xmlns:p14="http://schemas.microsoft.com/office/powerpoint/2010/main" val="1760042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E7DAC-1070-41B0-4B6B-C9A2F7CC4C4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73336CB-E10F-E4CD-9D70-3EC1BC374255}"/>
              </a:ext>
            </a:extLst>
          </p:cNvPr>
          <p:cNvSpPr txBox="1">
            <a:spLocks/>
          </p:cNvSpPr>
          <p:nvPr/>
        </p:nvSpPr>
        <p:spPr>
          <a:xfrm>
            <a:off x="480767" y="5439266"/>
            <a:ext cx="6815580" cy="606021"/>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3200" dirty="0"/>
          </a:p>
        </p:txBody>
      </p:sp>
      <p:sp>
        <p:nvSpPr>
          <p:cNvPr id="3" name="Title 1">
            <a:extLst>
              <a:ext uri="{FF2B5EF4-FFF2-40B4-BE49-F238E27FC236}">
                <a16:creationId xmlns:a16="http://schemas.microsoft.com/office/drawing/2014/main" id="{33531CB1-9167-350D-1352-A0FAEDF603A6}"/>
              </a:ext>
            </a:extLst>
          </p:cNvPr>
          <p:cNvSpPr txBox="1">
            <a:spLocks/>
          </p:cNvSpPr>
          <p:nvPr/>
        </p:nvSpPr>
        <p:spPr>
          <a:xfrm>
            <a:off x="320511" y="360794"/>
            <a:ext cx="10567448"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5. Removed the remaining rows containing missing values.</a:t>
            </a:r>
            <a:endParaRPr lang="en-US" sz="2400" dirty="0">
              <a:solidFill>
                <a:schemeClr val="accent4">
                  <a:lumMod val="60000"/>
                  <a:lumOff val="40000"/>
                </a:schemeClr>
              </a:solidFill>
              <a:effectLst>
                <a:outerShdw blurRad="38100" dist="38100" dir="2700000" algn="tl">
                  <a:srgbClr val="000000">
                    <a:alpha val="43137"/>
                  </a:srgbClr>
                </a:outerShdw>
              </a:effectLst>
            </a:endParaRPr>
          </a:p>
        </p:txBody>
      </p:sp>
      <p:pic>
        <p:nvPicPr>
          <p:cNvPr id="9" name="Picture 8">
            <a:extLst>
              <a:ext uri="{FF2B5EF4-FFF2-40B4-BE49-F238E27FC236}">
                <a16:creationId xmlns:a16="http://schemas.microsoft.com/office/drawing/2014/main" id="{CA4B633A-1358-F217-7B15-C735EBDB94C7}"/>
              </a:ext>
            </a:extLst>
          </p:cNvPr>
          <p:cNvPicPr>
            <a:picLocks noChangeAspect="1"/>
          </p:cNvPicPr>
          <p:nvPr/>
        </p:nvPicPr>
        <p:blipFill>
          <a:blip r:embed="rId2"/>
          <a:stretch>
            <a:fillRect/>
          </a:stretch>
        </p:blipFill>
        <p:spPr>
          <a:xfrm>
            <a:off x="579878" y="1670554"/>
            <a:ext cx="6914431" cy="3190803"/>
          </a:xfrm>
          <a:prstGeom prst="rect">
            <a:avLst/>
          </a:prstGeom>
        </p:spPr>
      </p:pic>
      <p:pic>
        <p:nvPicPr>
          <p:cNvPr id="11" name="Picture 10">
            <a:extLst>
              <a:ext uri="{FF2B5EF4-FFF2-40B4-BE49-F238E27FC236}">
                <a16:creationId xmlns:a16="http://schemas.microsoft.com/office/drawing/2014/main" id="{891463D1-4979-3AD0-0B08-99DDD9092E6E}"/>
              </a:ext>
            </a:extLst>
          </p:cNvPr>
          <p:cNvPicPr>
            <a:picLocks noChangeAspect="1"/>
          </p:cNvPicPr>
          <p:nvPr/>
        </p:nvPicPr>
        <p:blipFill>
          <a:blip r:embed="rId3"/>
          <a:stretch>
            <a:fillRect/>
          </a:stretch>
        </p:blipFill>
        <p:spPr>
          <a:xfrm>
            <a:off x="579878" y="5069449"/>
            <a:ext cx="6914431" cy="866896"/>
          </a:xfrm>
          <a:prstGeom prst="rect">
            <a:avLst/>
          </a:prstGeom>
        </p:spPr>
      </p:pic>
      <p:pic>
        <p:nvPicPr>
          <p:cNvPr id="15" name="Picture 14">
            <a:extLst>
              <a:ext uri="{FF2B5EF4-FFF2-40B4-BE49-F238E27FC236}">
                <a16:creationId xmlns:a16="http://schemas.microsoft.com/office/drawing/2014/main" id="{FFD7CB41-ED00-FA1B-E4BC-BBB94809E782}"/>
              </a:ext>
            </a:extLst>
          </p:cNvPr>
          <p:cNvPicPr>
            <a:picLocks noChangeAspect="1"/>
          </p:cNvPicPr>
          <p:nvPr/>
        </p:nvPicPr>
        <p:blipFill>
          <a:blip r:embed="rId4"/>
          <a:stretch>
            <a:fillRect/>
          </a:stretch>
        </p:blipFill>
        <p:spPr>
          <a:xfrm>
            <a:off x="8649434" y="1976235"/>
            <a:ext cx="2962688" cy="2905530"/>
          </a:xfrm>
          <a:prstGeom prst="rect">
            <a:avLst/>
          </a:prstGeom>
        </p:spPr>
      </p:pic>
    </p:spTree>
    <p:extLst>
      <p:ext uri="{BB962C8B-B14F-4D97-AF65-F5344CB8AC3E}">
        <p14:creationId xmlns:p14="http://schemas.microsoft.com/office/powerpoint/2010/main" val="3007662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27AF1-DEA4-D9D8-3647-38D6062083E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4C82133-9050-468E-48F7-FBE57779B391}"/>
              </a:ext>
            </a:extLst>
          </p:cNvPr>
          <p:cNvSpPr txBox="1">
            <a:spLocks/>
          </p:cNvSpPr>
          <p:nvPr/>
        </p:nvSpPr>
        <p:spPr>
          <a:xfrm>
            <a:off x="480767" y="5439266"/>
            <a:ext cx="6815580" cy="606021"/>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3200" dirty="0"/>
          </a:p>
        </p:txBody>
      </p:sp>
      <p:sp>
        <p:nvSpPr>
          <p:cNvPr id="2" name="Title 1">
            <a:extLst>
              <a:ext uri="{FF2B5EF4-FFF2-40B4-BE49-F238E27FC236}">
                <a16:creationId xmlns:a16="http://schemas.microsoft.com/office/drawing/2014/main" id="{DBAAC373-643C-547B-42F8-1155197DA0A6}"/>
              </a:ext>
            </a:extLst>
          </p:cNvPr>
          <p:cNvSpPr txBox="1">
            <a:spLocks/>
          </p:cNvSpPr>
          <p:nvPr/>
        </p:nvSpPr>
        <p:spPr>
          <a:xfrm>
            <a:off x="876693" y="1100013"/>
            <a:ext cx="3393650"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b="1" dirty="0">
                <a:solidFill>
                  <a:schemeClr val="bg1"/>
                </a:solidFill>
                <a:effectLst>
                  <a:outerShdw blurRad="38100" dist="38100" dir="2700000" algn="tl">
                    <a:srgbClr val="000000">
                      <a:alpha val="43137"/>
                    </a:srgbClr>
                  </a:outerShdw>
                </a:effectLst>
              </a:rPr>
              <a:t>4.Data Analysis</a:t>
            </a:r>
          </a:p>
        </p:txBody>
      </p:sp>
      <p:sp>
        <p:nvSpPr>
          <p:cNvPr id="5" name="Title 1">
            <a:extLst>
              <a:ext uri="{FF2B5EF4-FFF2-40B4-BE49-F238E27FC236}">
                <a16:creationId xmlns:a16="http://schemas.microsoft.com/office/drawing/2014/main" id="{D2F157E9-BB39-6206-9FEC-6DFE3C04B81E}"/>
              </a:ext>
            </a:extLst>
          </p:cNvPr>
          <p:cNvSpPr txBox="1">
            <a:spLocks/>
          </p:cNvSpPr>
          <p:nvPr/>
        </p:nvSpPr>
        <p:spPr>
          <a:xfrm>
            <a:off x="1208201" y="3203040"/>
            <a:ext cx="9934281" cy="451919"/>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chemeClr val="accent4">
                    <a:lumMod val="60000"/>
                    <a:lumOff val="40000"/>
                  </a:schemeClr>
                </a:solidFill>
              </a:rPr>
              <a:t>Let's move to the interactive dashboard and start exploring the data to uncover valuable insights.</a:t>
            </a:r>
            <a:endParaRPr lang="en-US" sz="2400" b="1" dirty="0">
              <a:solidFill>
                <a:schemeClr val="accent4">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048670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388</TotalTime>
  <Words>387</Words>
  <Application>Microsoft Office PowerPoint</Application>
  <PresentationFormat>Widescreen</PresentationFormat>
  <Paragraphs>47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Wingdings 3</vt:lpstr>
      <vt:lpstr>Ion</vt:lpstr>
      <vt:lpstr>Restaurant Dataset Analysis</vt:lpstr>
      <vt:lpstr>Project Workflow  1.Understanding the Data     Understand the dataset structure and business problem. 2.Data Exploration     Explore data quality, distributions, and patterns.  3.Data Cleaning     Prepare and transform the data for analysis.  4.Data Analysis     Extract insights and visualize business performance</vt:lpstr>
      <vt:lpstr>1.Understanding the dataset</vt:lpstr>
      <vt:lpstr>2.Data Exploration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modeling str</dc:creator>
  <cp:lastModifiedBy>modeling str</cp:lastModifiedBy>
  <cp:revision>8</cp:revision>
  <dcterms:created xsi:type="dcterms:W3CDTF">2026-08-04T15:48:23Z</dcterms:created>
  <dcterms:modified xsi:type="dcterms:W3CDTF">2026-08-05T12:47:30Z</dcterms:modified>
</cp:coreProperties>
</file>